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-tc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92608"/>
            <a:ext cx="469526" cy="6035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713232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0B182C"/>
          </a:solidFill>
          <a:ln w="1524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" y="868680"/>
            <a:ext cx="347472" cy="347472"/>
          </a:xfrm>
          <a:prstGeom prst="ellipse">
            <a:avLst/>
          </a:prstGeom>
          <a:solidFill>
            <a:srgbClr val="14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786384"/>
            <a:ext cx="5669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78A8FF"/>
                </a:solidFill>
                <a:latin typeface="Segoe UI Semibold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73152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spc="300">
                <a:solidFill>
                  <a:srgbClr val="EEF4FB"/>
                </a:solidFill>
                <a:latin typeface="Segoe UI Semibold"/>
              </a:rPr>
              <a:t>AEGIS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300">
                <a:solidFill>
                  <a:srgbClr val="6D87A0"/>
                </a:solidFill>
                <a:latin typeface="Consolas"/>
              </a:rPr>
              <a:t>AI FRAUD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4884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EEF4FB"/>
                </a:solidFill>
                <a:latin typeface="Segoe UI Semibold"/>
              </a:rPr>
              <a:t>Fraud decisions in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78A8FF"/>
                </a:solidFill>
                <a:latin typeface="Segoe UI Semibold"/>
              </a:rPr>
              <a:t>milliseconds.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A2B8CE"/>
                </a:solidFill>
                <a:latin typeface="Segoe UI"/>
              </a:rPr>
              <a:t>An autonomous, real-time fraud &amp; financial-crime defense platform for banking — built on Gemini 3.5 and Google Cloud.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85216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" y="5993892"/>
            <a:ext cx="100584" cy="100584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5852160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2B8CE"/>
                </a:solidFill>
                <a:latin typeface="Consolas"/>
              </a:rPr>
              <a:t>Multi-agent investigation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585216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32504" y="5993892"/>
            <a:ext cx="100584" cy="100584"/>
          </a:xfrm>
          <a:prstGeom prst="ellipse">
            <a:avLst/>
          </a:prstGeom>
          <a:solidFill>
            <a:srgbClr val="5CD0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3672" y="5852160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2B8CE"/>
                </a:solidFill>
                <a:latin typeface="Consolas"/>
              </a:rPr>
              <a:t>Google Cloud · Gemini 3.5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585216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5744" y="5993892"/>
            <a:ext cx="100584" cy="100584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5852160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2B8CE"/>
                </a:solidFill>
                <a:latin typeface="Consolas"/>
              </a:rPr>
              <a:t>All Things Agentic · Taskmaster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-tc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92608"/>
            <a:ext cx="469526" cy="60350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41248" y="905256"/>
            <a:ext cx="100584" cy="100584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78638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spc="200">
                <a:solidFill>
                  <a:srgbClr val="6D87A0"/>
                </a:solidFill>
                <a:latin typeface="Consolas"/>
              </a:rPr>
              <a:t>01  </a:t>
            </a:r>
            <a:r>
              <a:rPr sz="1200" b="1" spc="200">
                <a:solidFill>
                  <a:srgbClr val="78A8FF"/>
                </a:solidFill>
                <a:latin typeface="Consolas"/>
              </a:rPr>
              <a:t>OVERVIEW</a:t>
            </a:r>
            <a:r>
              <a:rPr sz="1200" b="0" spc="200">
                <a:solidFill>
                  <a:srgbClr val="6D87A0"/>
                </a:solidFill>
                <a:latin typeface="Consolas"/>
              </a:rPr>
              <a:t>   / the banking sector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EF4FB"/>
                </a:solidFill>
                <a:latin typeface="Segoe UI Semibold"/>
              </a:rPr>
              <a:t>Every transaction is a 100-millisecond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A2B8CE"/>
                </a:solidFill>
                <a:latin typeface="Segoe UI"/>
              </a:rPr>
              <a:t>Modern banks and card networks approve or decline thousands of payments every second. Behind each swipe sits one unforgiving question — is this really the customer? — that must be answered instantly, at scale, with money and trust on the 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60520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600" b="1">
                <a:solidFill>
                  <a:srgbClr val="78A8FF"/>
                </a:solidFill>
                <a:latin typeface="Segoe UI Semibold"/>
              </a:rPr>
              <a:t>100 ms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2B8CE"/>
                </a:solidFill>
                <a:latin typeface="Segoe UI"/>
              </a:rPr>
              <a:t>Budget to decide on a live authorization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160520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600" b="1">
                <a:solidFill>
                  <a:srgbClr val="78A8FF"/>
                </a:solidFill>
                <a:latin typeface="Segoe UI Semibold"/>
              </a:rPr>
              <a:t>$1T+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2B8CE"/>
                </a:solidFill>
                <a:latin typeface="Segoe UI"/>
              </a:rPr>
              <a:t>Digital payments flowing through banks yearly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4160520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600" b="1">
                <a:solidFill>
                  <a:srgbClr val="78A8FF"/>
                </a:solidFill>
                <a:latin typeface="Segoe UI Semibold"/>
              </a:rPr>
              <a:t>24 / 7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2B8CE"/>
                </a:solidFill>
                <a:latin typeface="Segoe UI"/>
              </a:rPr>
              <a:t>Attack surface — fraud never sleeps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-tc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92608"/>
            <a:ext cx="469526" cy="60350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41248" y="905256"/>
            <a:ext cx="100584" cy="100584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78638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spc="200">
                <a:solidFill>
                  <a:srgbClr val="6D87A0"/>
                </a:solidFill>
                <a:latin typeface="Consolas"/>
              </a:rPr>
              <a:t>02  </a:t>
            </a:r>
            <a:r>
              <a:rPr sz="1200" b="1" spc="200">
                <a:solidFill>
                  <a:srgbClr val="78A8FF"/>
                </a:solidFill>
                <a:latin typeface="Consola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EF4FB"/>
                </a:solidFill>
                <a:latin typeface="Segoe UI Semibold"/>
              </a:rPr>
              <a:t>Static rules force an impossible trade-off.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2B8CE"/>
                </a:solidFill>
                <a:latin typeface="Segoe UI"/>
              </a:rPr>
              <a:t>Legacy fraud engines are frozen if-then rules. Tighten them and you decline good customers; loosen them and fraud slips through. Either way a human reviews the aftermath hours later — long after the money is gone.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77639"/>
            <a:ext cx="2615184" cy="2286000"/>
          </a:xfrm>
          <a:prstGeom prst="roundRect">
            <a:avLst>
              <a:gd name="adj" fmla="val 8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178807"/>
            <a:ext cx="2212848" cy="1883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150">
                <a:solidFill>
                  <a:srgbClr val="6D87A0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8A80"/>
                </a:solidFill>
                <a:latin typeface="Segoe UI Semibold"/>
              </a:rPr>
              <a:t>Fraud slips through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2B8CE"/>
                </a:solidFill>
                <a:latin typeface="Segoe UI"/>
              </a:rPr>
              <a:t>Rules only catch patterns someone already wrote down. Novel attacks pass untouched.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2736" y="3977639"/>
            <a:ext cx="2615184" cy="2286000"/>
          </a:xfrm>
          <a:prstGeom prst="roundRect">
            <a:avLst>
              <a:gd name="adj" fmla="val 8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3904" y="4178807"/>
            <a:ext cx="2212848" cy="1883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150">
                <a:solidFill>
                  <a:srgbClr val="6D87A0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BBC04"/>
                </a:solidFill>
                <a:latin typeface="Segoe UI Semibold"/>
              </a:rPr>
              <a:t>False declines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2B8CE"/>
                </a:solidFill>
                <a:latin typeface="Segoe UI"/>
              </a:rPr>
              <a:t>Good customers blocked at checkout — the biggest driver of churn and lost revenue.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3977639"/>
            <a:ext cx="2615184" cy="2286000"/>
          </a:xfrm>
          <a:prstGeom prst="roundRect">
            <a:avLst>
              <a:gd name="adj" fmla="val 8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178807"/>
            <a:ext cx="2212848" cy="1883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150">
                <a:solidFill>
                  <a:srgbClr val="6D87A0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78A8FF"/>
                </a:solidFill>
                <a:latin typeface="Segoe UI Semibold"/>
              </a:rPr>
              <a:t>Slow to act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2B8CE"/>
                </a:solidFill>
                <a:latin typeface="Segoe UI"/>
              </a:rPr>
              <a:t>Manual review comes hours later. Explanations reconstructed after the fact.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62288" y="3977639"/>
            <a:ext cx="2615184" cy="2286000"/>
          </a:xfrm>
          <a:prstGeom prst="roundRect">
            <a:avLst>
              <a:gd name="adj" fmla="val 8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3456" y="4178807"/>
            <a:ext cx="2212848" cy="1883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150">
                <a:solidFill>
                  <a:srgbClr val="6D87A0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A2B8CE"/>
                </a:solidFill>
                <a:latin typeface="Segoe UI Semibold"/>
              </a:rPr>
              <a:t>No memory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2B8CE"/>
                </a:solidFill>
                <a:latin typeface="Segoe UI"/>
              </a:rPr>
              <a:t>Every transaction judged cold. The system never learns this customer is legit.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-tc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92608"/>
            <a:ext cx="469526" cy="60350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41248" y="905256"/>
            <a:ext cx="100584" cy="100584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78638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spc="200">
                <a:solidFill>
                  <a:srgbClr val="6D87A0"/>
                </a:solidFill>
                <a:latin typeface="Consolas"/>
              </a:rPr>
              <a:t>03  </a:t>
            </a:r>
            <a:r>
              <a:rPr sz="1200" b="1" spc="200">
                <a:solidFill>
                  <a:srgbClr val="78A8FF"/>
                </a:solidFill>
                <a:latin typeface="Consolas"/>
              </a:rPr>
              <a:t>THE AEGIS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EF4FB"/>
                </a:solidFill>
                <a:latin typeface="Segoe UI Semibold"/>
              </a:rPr>
              <a:t>A team of AI agents that investigates every risky payment.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2B8CE"/>
                </a:solidFill>
                <a:latin typeface="Segoe UI"/>
              </a:rPr>
              <a:t>Aegis replaces the static rulebook with an autonomous investigation. Low-risk payments clear in milliseconds; anything suspicious goes to specialist Gemini 3.5 agents that gather evidence, weigh it, and return a decision with its reasons — then verify the customer instead of declining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14800"/>
            <a:ext cx="2615184" cy="2194560"/>
          </a:xfrm>
          <a:prstGeom prst="roundRect">
            <a:avLst>
              <a:gd name="adj" fmla="val 8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315968"/>
            <a:ext cx="2212848" cy="179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150">
                <a:solidFill>
                  <a:srgbClr val="6D87A0"/>
                </a:solidFill>
                <a:latin typeface="Consolas"/>
              </a:rPr>
              <a:t>AUTONOMOUS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4FB"/>
                </a:solidFill>
                <a:latin typeface="Segoe UI Semibold"/>
              </a:rPr>
              <a:t>Investigates, not just scores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2B8CE"/>
                </a:solidFill>
                <a:latin typeface="Segoe UI"/>
              </a:rPr>
              <a:t>Agents pull evidence, debate, and reach a verdict — no analyst in the loop.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2736" y="4114800"/>
            <a:ext cx="2615184" cy="2194560"/>
          </a:xfrm>
          <a:prstGeom prst="roundRect">
            <a:avLst>
              <a:gd name="adj" fmla="val 8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3904" y="4315968"/>
            <a:ext cx="2212848" cy="179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150">
                <a:solidFill>
                  <a:srgbClr val="6D87A0"/>
                </a:solidFill>
                <a:latin typeface="Consolas"/>
              </a:rPr>
              <a:t>ADAPTIVE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4FB"/>
                </a:solidFill>
                <a:latin typeface="Segoe UI Semibold"/>
              </a:rPr>
              <a:t>Verify, don't decline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2B8CE"/>
                </a:solidFill>
                <a:latin typeface="Segoe UI"/>
              </a:rPr>
              <a:t>Borderline? Step up with an OTP instead of losing a good customer.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4114800"/>
            <a:ext cx="2615184" cy="2194560"/>
          </a:xfrm>
          <a:prstGeom prst="roundRect">
            <a:avLst>
              <a:gd name="adj" fmla="val 8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315968"/>
            <a:ext cx="2212848" cy="179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150">
                <a:solidFill>
                  <a:srgbClr val="6D87A0"/>
                </a:solidFill>
                <a:latin typeface="Consolas"/>
              </a:rPr>
              <a:t>EXPLAINABLE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4FB"/>
                </a:solidFill>
                <a:latin typeface="Segoe UI Semibold"/>
              </a:rPr>
              <a:t>Reason codes + evidence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2B8CE"/>
                </a:solidFill>
                <a:latin typeface="Segoe UI"/>
              </a:rPr>
              <a:t>Every decision ships with confidence, reason codes and an evidence summary.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62288" y="4114800"/>
            <a:ext cx="2615184" cy="2194560"/>
          </a:xfrm>
          <a:prstGeom prst="roundRect">
            <a:avLst>
              <a:gd name="adj" fmla="val 8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3456" y="4315968"/>
            <a:ext cx="2212848" cy="179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150">
                <a:solidFill>
                  <a:srgbClr val="6D87A0"/>
                </a:solidFill>
                <a:latin typeface="Consolas"/>
              </a:rPr>
              <a:t>REMEMBERS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4FB"/>
                </a:solidFill>
                <a:latin typeface="Segoe UI Semibold"/>
              </a:rPr>
              <a:t>Customer memory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2B8CE"/>
                </a:solidFill>
                <a:latin typeface="Segoe UI"/>
              </a:rPr>
              <a:t>Firestore memory of confirmed-legit behavior means fewer repeat challenges.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-tc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92608"/>
            <a:ext cx="469526" cy="60350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41248" y="905256"/>
            <a:ext cx="100584" cy="100584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78638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spc="200">
                <a:solidFill>
                  <a:srgbClr val="6D87A0"/>
                </a:solidFill>
                <a:latin typeface="Consolas"/>
              </a:rPr>
              <a:t>04  </a:t>
            </a:r>
            <a:r>
              <a:rPr sz="1200" b="1" spc="200">
                <a:solidFill>
                  <a:srgbClr val="78A8FF"/>
                </a:solidFill>
                <a:latin typeface="Consolas"/>
              </a:rPr>
              <a:t>HOW IT WORKS</a:t>
            </a:r>
            <a:r>
              <a:rPr sz="1200" b="0" spc="200">
                <a:solidFill>
                  <a:srgbClr val="6D87A0"/>
                </a:solidFill>
                <a:latin typeface="Consolas"/>
              </a:rPr>
              <a:t>   / two-speed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EF4FB"/>
                </a:solidFill>
                <a:latin typeface="Segoe UI Semibold"/>
              </a:rPr>
              <a:t>Fast enough for checkout. Deep enough to catch fraud.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5212080" cy="2926080"/>
          </a:xfrm>
          <a:prstGeom prst="roundRect">
            <a:avLst>
              <a:gd name="adj" fmla="val 6000"/>
            </a:avLst>
          </a:prstGeom>
          <a:solidFill>
            <a:srgbClr val="0E1F38"/>
          </a:solidFill>
          <a:ln w="15240">
            <a:solidFill>
              <a:srgbClr val="27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2286000"/>
            <a:ext cx="5212080" cy="2926080"/>
          </a:xfrm>
          <a:prstGeom prst="roundRect">
            <a:avLst>
              <a:gd name="adj" fmla="val 6000"/>
            </a:avLst>
          </a:prstGeom>
          <a:solidFill>
            <a:srgbClr val="16142E"/>
          </a:solidFill>
          <a:ln w="15240">
            <a:solidFill>
              <a:srgbClr val="3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5059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4FB"/>
                </a:solidFill>
                <a:latin typeface="Segoe UI Semibold"/>
              </a:rPr>
              <a:t>FAST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5059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78A8FF"/>
                </a:solidFill>
                <a:latin typeface="Consolas"/>
              </a:rPr>
              <a:t>◈ milliseconds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5059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4FB"/>
                </a:solidFill>
                <a:latin typeface="Segoe UI Semibold"/>
              </a:rPr>
              <a:t>DEEP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5059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4B0FF"/>
                </a:solidFill>
                <a:latin typeface="Consolas"/>
              </a:rPr>
              <a:t>◈ async · multi-agent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4436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D87A0"/>
                </a:solidFill>
                <a:latin typeface="Consol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944368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EF4FB"/>
                </a:solidFill>
                <a:latin typeface="Segoe UI Semibold"/>
              </a:rPr>
              <a:t>Transaction arrives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A2B8CE"/>
                </a:solidFill>
                <a:latin typeface="Segoe UI"/>
              </a:rPr>
              <a:t>Validated &amp; enriched, streamed over Pub/Sub.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576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D87A0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65760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EF4FB"/>
                </a:solidFill>
                <a:latin typeface="Segoe UI Semibold"/>
              </a:rPr>
              <a:t>Rules + Gemini Flash pre-filter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A2B8CE"/>
                </a:solidFill>
                <a:latin typeface="Segoe UI"/>
              </a:rPr>
              <a:t>Instant triage on the live authorization.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7083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D87A0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370832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EF4FB"/>
                </a:solidFill>
                <a:latin typeface="Segoe UI Semibold"/>
              </a:rPr>
              <a:t>Clear or escalate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A2B8CE"/>
                </a:solidFill>
                <a:latin typeface="Segoe UI"/>
              </a:rPr>
              <a:t>Low risk → approve now. High risk → deep path.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4436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D87A0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2944368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EF4FB"/>
                </a:solidFill>
                <a:latin typeface="Segoe UI Semibold"/>
              </a:rPr>
              <a:t>Orchestrator convenes the team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A2B8CE"/>
                </a:solidFill>
                <a:latin typeface="Segoe UI"/>
              </a:rPr>
              <a:t>Six specialist agents investigate on Gemini 3.5.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6576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D87A0"/>
                </a:solidFill>
                <a:latin typeface="Consola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365760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EF4FB"/>
                </a:solidFill>
                <a:latin typeface="Segoe UI Semibold"/>
              </a:rPr>
              <a:t>Evidence + critic review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A2B8CE"/>
                </a:solidFill>
                <a:latin typeface="Segoe UI"/>
              </a:rPr>
              <a:t>Findings cross-checked; a critic challenges the verdict.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37083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D87A0"/>
                </a:solidFill>
                <a:latin typeface="Consolas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4370832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EF4FB"/>
                </a:solidFill>
                <a:latin typeface="Segoe UI Semibold"/>
              </a:rPr>
              <a:t>Adaptive decision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A2B8CE"/>
                </a:solidFill>
                <a:latin typeface="Segoe UI"/>
              </a:rPr>
              <a:t>Approve · Step-up · Hold · Block — with reasons.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5321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" y="5673852"/>
            <a:ext cx="100584" cy="100584"/>
          </a:xfrm>
          <a:prstGeom prst="ellipse">
            <a:avLst/>
          </a:prstGeom>
          <a:solidFill>
            <a:srgbClr val="5CD0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5532120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2B8CE"/>
                </a:solidFill>
                <a:latin typeface="Consolas"/>
              </a:rPr>
              <a:t>Approve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77440" y="55321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523744" y="5673852"/>
            <a:ext cx="100584" cy="100584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24912" y="5532120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2B8CE"/>
                </a:solidFill>
                <a:latin typeface="Consolas"/>
              </a:rPr>
              <a:t>Step-up · OTP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55321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89704" y="5673852"/>
            <a:ext cx="100584" cy="100584"/>
          </a:xfrm>
          <a:prstGeom prst="ellipse">
            <a:avLst/>
          </a:prstGeom>
          <a:solidFill>
            <a:srgbClr val="78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90872" y="5532120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2B8CE"/>
                </a:solidFill>
                <a:latin typeface="Consolas"/>
              </a:rPr>
              <a:t>Hold · review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55321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55664" y="5673852"/>
            <a:ext cx="100584" cy="100584"/>
          </a:xfrm>
          <a:prstGeom prst="ellipse">
            <a:avLst/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6832" y="5532120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2B8CE"/>
                </a:solidFill>
                <a:latin typeface="Consolas"/>
              </a:rPr>
              <a:t>Block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532120"/>
            <a:ext cx="4389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D87A0"/>
                </a:solidFill>
                <a:latin typeface="Consolas"/>
              </a:rPr>
              <a:t>every verdict carries reason codes · confidence ·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-tc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92608"/>
            <a:ext cx="469526" cy="60350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41248" y="905256"/>
            <a:ext cx="100584" cy="100584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78638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spc="200">
                <a:solidFill>
                  <a:srgbClr val="6D87A0"/>
                </a:solidFill>
                <a:latin typeface="Consolas"/>
              </a:rPr>
              <a:t>05  </a:t>
            </a:r>
            <a:r>
              <a:rPr sz="1200" b="1" spc="200">
                <a:solidFill>
                  <a:srgbClr val="78A8FF"/>
                </a:solidFill>
                <a:latin typeface="Consolas"/>
              </a:rPr>
              <a:t>TYSON USER FLOW</a:t>
            </a:r>
            <a:r>
              <a:rPr sz="1200" b="0" spc="200">
                <a:solidFill>
                  <a:srgbClr val="6D87A0"/>
                </a:solidFill>
                <a:latin typeface="Consolas"/>
              </a:rPr>
              <a:t>   / step-up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EF4FB"/>
                </a:solidFill>
                <a:latin typeface="Segoe UI Semibold"/>
              </a:rPr>
              <a:t>The same payment. Two very different outcomes.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10515600" cy="868680"/>
          </a:xfrm>
          <a:prstGeom prst="roundRect">
            <a:avLst>
              <a:gd name="adj" fmla="val 12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2450592"/>
            <a:ext cx="457200" cy="457200"/>
          </a:xfrm>
          <a:prstGeom prst="ellipse">
            <a:avLst/>
          </a:prstGeom>
          <a:solidFill>
            <a:srgbClr val="0B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4505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78A8FF"/>
                </a:solidFill>
                <a:latin typeface="Segoe UI Semibold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31720"/>
            <a:ext cx="9509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EF4FB"/>
                </a:solidFill>
                <a:latin typeface="Segoe UI Semibold"/>
              </a:rPr>
              <a:t>Tyson · large auto-pay charge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A2B8CE"/>
                </a:solidFill>
                <a:latin typeface="Segoe UI"/>
              </a:rPr>
              <a:t>A high-value payment fires. Aegis checks card status, then the step-up policy gate — before it ever reaches the agents.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83280"/>
            <a:ext cx="5212080" cy="1965960"/>
          </a:xfrm>
          <a:prstGeom prst="roundRect">
            <a:avLst>
              <a:gd name="adj" fmla="val 7000"/>
            </a:avLst>
          </a:prstGeom>
          <a:solidFill>
            <a:srgbClr val="221112"/>
          </a:solidFill>
          <a:ln w="15240">
            <a:solidFill>
              <a:srgbClr val="6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3383280"/>
            <a:ext cx="5212080" cy="1965960"/>
          </a:xfrm>
          <a:prstGeom prst="roundRect">
            <a:avLst>
              <a:gd name="adj" fmla="val 7000"/>
            </a:avLst>
          </a:prstGeom>
          <a:solidFill>
            <a:srgbClr val="0F2218"/>
          </a:solidFill>
          <a:ln w="15240">
            <a:solidFill>
              <a:srgbClr val="275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6616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F8A80"/>
                </a:solidFill>
                <a:latin typeface="Consolas"/>
              </a:rPr>
              <a:t>◆ auto-pay OFF · no OTP 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862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8A80"/>
                </a:solidFill>
                <a:latin typeface="Segoe UI Semibold"/>
              </a:rPr>
              <a:t>✕  Card blocked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43484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A2B8CE"/>
                </a:solidFill>
                <a:latin typeface="Segoe UI"/>
              </a:rPr>
              <a:t>Unverified high-value charge with auto-pay disabled — Aegis refuses it and protects the customer, with a reason code the analyst sees instantly.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56616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CD08B"/>
                </a:solidFill>
                <a:latin typeface="Consolas"/>
              </a:rPr>
              <a:t>◆ OTP verified / auto-pay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8862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5CD08B"/>
                </a:solidFill>
                <a:latin typeface="Segoe UI Semibold"/>
              </a:rPr>
              <a:t>✓  Approved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43484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A2B8CE"/>
                </a:solidFill>
                <a:latin typeface="Segoe UI"/>
              </a:rPr>
              <a:t>Tyson confirms with a Mobile or Email OTP — Aegis verifies identity and approves the same payment. A good customer is kept, not declined.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2B8CE"/>
                </a:solidFill>
                <a:latin typeface="Segoe UI"/>
              </a:rPr>
              <a:t>The lesson: </a:t>
            </a:r>
            <a:r>
              <a:rPr sz="1500" b="1">
                <a:solidFill>
                  <a:srgbClr val="EEF4FB"/>
                </a:solidFill>
                <a:latin typeface="Segoe UI Semibold"/>
              </a:rPr>
              <a:t>verify the customer, don't just decline the charge.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-tc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92608"/>
            <a:ext cx="469526" cy="60350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41248" y="905256"/>
            <a:ext cx="100584" cy="100584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78638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spc="200">
                <a:solidFill>
                  <a:srgbClr val="6D87A0"/>
                </a:solidFill>
                <a:latin typeface="Consolas"/>
              </a:rPr>
              <a:t>05  </a:t>
            </a:r>
            <a:r>
              <a:rPr sz="1200" b="1" spc="200">
                <a:solidFill>
                  <a:srgbClr val="78A8FF"/>
                </a:solidFill>
                <a:latin typeface="Consolas"/>
              </a:rPr>
              <a:t>BEHIND THE SCENES</a:t>
            </a:r>
            <a:r>
              <a:rPr sz="1200" b="0" spc="200">
                <a:solidFill>
                  <a:srgbClr val="6D87A0"/>
                </a:solidFill>
                <a:latin typeface="Consolas"/>
              </a:rPr>
              <a:t>   / how the agents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EF4FB"/>
                </a:solidFill>
                <a:latin typeface="Segoe UI Semibold"/>
              </a:rPr>
              <a:t>An investigation team, not a single model call.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2B8CE"/>
                </a:solidFill>
                <a:latin typeface="Segoe UI"/>
              </a:rPr>
              <a:t>When the deep path fires, an Orchestrator convenes specialists on Gemini 3.5. Each has one job; a Critic keeps them honest. Every step streams live in the console.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54680"/>
            <a:ext cx="2615184" cy="1417320"/>
          </a:xfrm>
          <a:prstGeom prst="roundRect">
            <a:avLst>
              <a:gd name="adj" fmla="val 9000"/>
            </a:avLst>
          </a:prstGeom>
          <a:solidFill>
            <a:srgbClr val="11223C"/>
          </a:solidFill>
          <a:ln w="12700">
            <a:solidFill>
              <a:srgbClr val="27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3374136"/>
            <a:ext cx="118872" cy="11887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3300984"/>
            <a:ext cx="206654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4FB"/>
                </a:solidFill>
                <a:latin typeface="Segoe UI Semibold"/>
              </a:rPr>
              <a:t>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2B8CE"/>
                </a:solidFill>
                <a:latin typeface="Segoe UI"/>
              </a:rPr>
              <a:t>Convenes the team, routes evidence, issues the final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2736" y="3154680"/>
            <a:ext cx="2615184" cy="1417320"/>
          </a:xfrm>
          <a:prstGeom prst="roundRect">
            <a:avLst>
              <a:gd name="adj" fmla="val 9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85615" y="3374136"/>
            <a:ext cx="118872" cy="118872"/>
          </a:xfrm>
          <a:prstGeom prst="rect">
            <a:avLst/>
          </a:prstGeom>
          <a:solidFill>
            <a:srgbClr val="C4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86784" y="3300984"/>
            <a:ext cx="206654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4FB"/>
                </a:solidFill>
                <a:latin typeface="Segoe UI Semibold"/>
              </a:rPr>
              <a:t>Card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5615" y="3703320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2B8CE"/>
                </a:solidFill>
                <a:latin typeface="Segoe UI"/>
              </a:rPr>
              <a:t>Checks stolen / lost / frozen — a hard block short-circuits 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2512" y="3154680"/>
            <a:ext cx="2615184" cy="1417320"/>
          </a:xfrm>
          <a:prstGeom prst="roundRect">
            <a:avLst>
              <a:gd name="adj" fmla="val 9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5392" y="3374136"/>
            <a:ext cx="118872" cy="118872"/>
          </a:xfrm>
          <a:prstGeom prst="rect">
            <a:avLst/>
          </a:prstGeom>
          <a:solidFill>
            <a:srgbClr val="C4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3300984"/>
            <a:ext cx="206654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4FB"/>
                </a:solidFill>
                <a:latin typeface="Segoe UI Semibold"/>
              </a:rPr>
              <a:t>Step-Up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3703320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2B8CE"/>
                </a:solidFill>
                <a:latin typeface="Segoe UI"/>
              </a:rPr>
              <a:t>Applies the OTP &amp; auto-pay policy gate — verify vs decline.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288" y="3154680"/>
            <a:ext cx="2615184" cy="1417320"/>
          </a:xfrm>
          <a:prstGeom prst="roundRect">
            <a:avLst>
              <a:gd name="adj" fmla="val 9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45168" y="3374136"/>
            <a:ext cx="118872" cy="118872"/>
          </a:xfrm>
          <a:prstGeom prst="rect">
            <a:avLst/>
          </a:prstGeom>
          <a:solidFill>
            <a:srgbClr val="C4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46336" y="3300984"/>
            <a:ext cx="206654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4FB"/>
                </a:solidFill>
                <a:latin typeface="Segoe UI Semibold"/>
              </a:rPr>
              <a:t>Investigator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8" y="3703320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2B8CE"/>
                </a:solidFill>
                <a:latin typeface="Segoe UI"/>
              </a:rPr>
              <a:t>Reconstructs the story: amount, location, device, history.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736592"/>
            <a:ext cx="2615184" cy="1417320"/>
          </a:xfrm>
          <a:prstGeom prst="roundRect">
            <a:avLst>
              <a:gd name="adj" fmla="val 9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" y="4956048"/>
            <a:ext cx="118872" cy="118872"/>
          </a:xfrm>
          <a:prstGeom prst="rect">
            <a:avLst/>
          </a:prstGeom>
          <a:solidFill>
            <a:srgbClr val="C4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4882896"/>
            <a:ext cx="206654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4FB"/>
                </a:solidFill>
                <a:latin typeface="Segoe UI Semibold"/>
              </a:rPr>
              <a:t>Network Analyst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285231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2B8CE"/>
                </a:solidFill>
                <a:latin typeface="Segoe UI"/>
              </a:rPr>
              <a:t>Looks for mule rings and connected-account patterns.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02736" y="4736592"/>
            <a:ext cx="2615184" cy="1417320"/>
          </a:xfrm>
          <a:prstGeom prst="roundRect">
            <a:avLst>
              <a:gd name="adj" fmla="val 9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85615" y="4956048"/>
            <a:ext cx="118872" cy="118872"/>
          </a:xfrm>
          <a:prstGeom prst="rect">
            <a:avLst/>
          </a:prstGeom>
          <a:solidFill>
            <a:srgbClr val="C4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86784" y="4882896"/>
            <a:ext cx="206654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4FB"/>
                </a:solidFill>
                <a:latin typeface="Segoe UI Semibold"/>
              </a:rPr>
              <a:t>Intel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85615" y="5285231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2B8CE"/>
                </a:solidFill>
                <a:latin typeface="Segoe UI"/>
              </a:rPr>
              <a:t>Cross-references fraud signals, watchlists and threat intel.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82512" y="4736592"/>
            <a:ext cx="2615184" cy="1417320"/>
          </a:xfrm>
          <a:prstGeom prst="roundRect">
            <a:avLst>
              <a:gd name="adj" fmla="val 9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65392" y="4956048"/>
            <a:ext cx="118872" cy="118872"/>
          </a:xfrm>
          <a:prstGeom prst="rect">
            <a:avLst/>
          </a:prstGeom>
          <a:solidFill>
            <a:srgbClr val="C4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4882896"/>
            <a:ext cx="206654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4FB"/>
                </a:solidFill>
                <a:latin typeface="Segoe UI Semibold"/>
              </a:rPr>
              <a:t>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5285231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2B8CE"/>
                </a:solidFill>
                <a:latin typeface="Segoe UI"/>
              </a:rPr>
              <a:t>Frames the case for AML / SAR; drafts the narrative.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62288" y="4736592"/>
            <a:ext cx="2615184" cy="1417320"/>
          </a:xfrm>
          <a:prstGeom prst="roundRect">
            <a:avLst>
              <a:gd name="adj" fmla="val 9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45168" y="4956048"/>
            <a:ext cx="118872" cy="11887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46336" y="4882896"/>
            <a:ext cx="206654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EF4FB"/>
                </a:solidFill>
                <a:latin typeface="Segoe UI Semibold"/>
              </a:rPr>
              <a:t>Critic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5285231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2B8CE"/>
                </a:solidFill>
                <a:latin typeface="Segoe UI"/>
              </a:rPr>
              <a:t>Challenges the verdict and stress-tests confidence.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-tc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92608"/>
            <a:ext cx="469526" cy="60350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41248" y="905256"/>
            <a:ext cx="100584" cy="100584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78638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spc="200">
                <a:solidFill>
                  <a:srgbClr val="6D87A0"/>
                </a:solidFill>
                <a:latin typeface="Consolas"/>
              </a:rPr>
              <a:t>05  </a:t>
            </a:r>
            <a:r>
              <a:rPr sz="1200" b="1" spc="200">
                <a:solidFill>
                  <a:srgbClr val="78A8FF"/>
                </a:solidFill>
                <a:latin typeface="Consolas"/>
              </a:rPr>
              <a:t>BEHIND THE SCENES</a:t>
            </a:r>
            <a:r>
              <a:rPr sz="1200" b="0" spc="200">
                <a:solidFill>
                  <a:srgbClr val="6D87A0"/>
                </a:solidFill>
                <a:latin typeface="Consolas"/>
              </a:rPr>
              <a:t>   / measured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EEF4FB"/>
                </a:solidFill>
                <a:latin typeface="Segoe UI Semibold"/>
              </a:rPr>
              <a:t>Benchmarked against a rules-only engine.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2B8CE"/>
                </a:solidFill>
                <a:latin typeface="Segoe UI"/>
              </a:rPr>
              <a:t>Aegis and a traditional rules baseline were run over the same labeled transaction set. The gap is the whole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2651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600" b="1">
                <a:solidFill>
                  <a:srgbClr val="5CD08B"/>
                </a:solidFill>
                <a:latin typeface="Segoe UI Semibold"/>
              </a:rPr>
              <a:t>95.2</a:t>
            </a:r>
            <a:r>
              <a:rPr sz="2000" b="1">
                <a:solidFill>
                  <a:srgbClr val="6D87A0"/>
                </a:solidFill>
                <a:latin typeface="Segoe UI Semibold"/>
              </a:rPr>
              <a:t> %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2B8CE"/>
                </a:solidFill>
                <a:latin typeface="Segoe UI"/>
              </a:rPr>
              <a:t>Fraud caught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D87A0"/>
                </a:solidFill>
                <a:latin typeface="Consolas"/>
              </a:rPr>
              <a:t>rules baseline: 12.7%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383280"/>
            <a:ext cx="2651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600" b="1">
                <a:solidFill>
                  <a:srgbClr val="78A8FF"/>
                </a:solidFill>
                <a:latin typeface="Segoe UI Semibold"/>
              </a:rPr>
              <a:t>90.4</a:t>
            </a:r>
            <a:r>
              <a:rPr sz="2000" b="1">
                <a:solidFill>
                  <a:srgbClr val="6D87A0"/>
                </a:solidFill>
                <a:latin typeface="Segoe UI Semibold"/>
              </a:rPr>
              <a:t> %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2B8CE"/>
                </a:solidFill>
                <a:latin typeface="Segoe UI"/>
              </a:rPr>
              <a:t>Fewer false declines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D87A0"/>
                </a:solidFill>
                <a:latin typeface="Consolas"/>
              </a:rPr>
              <a:t>39.0% → 3.8%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383280"/>
            <a:ext cx="2651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600" b="1">
                <a:solidFill>
                  <a:srgbClr val="C4B0FF"/>
                </a:solidFill>
                <a:latin typeface="Segoe UI Semibold"/>
              </a:rPr>
              <a:t>88.2</a:t>
            </a:r>
            <a:r>
              <a:rPr sz="2000" b="1">
                <a:solidFill>
                  <a:srgbClr val="6D87A0"/>
                </a:solidFill>
                <a:latin typeface="Segoe UI Semibold"/>
              </a:rPr>
              <a:t> %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2B8CE"/>
                </a:solidFill>
                <a:latin typeface="Segoe UI"/>
              </a:rPr>
              <a:t>Block precision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D87A0"/>
                </a:solidFill>
                <a:latin typeface="Consolas"/>
              </a:rPr>
              <a:t>when Aegis blocks, it's 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39" y="3383280"/>
            <a:ext cx="2651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600" b="1">
                <a:solidFill>
                  <a:srgbClr val="FBBC04"/>
                </a:solidFill>
                <a:latin typeface="Segoe UI Semibold"/>
              </a:rPr>
              <a:t>&lt;100</a:t>
            </a:r>
            <a:r>
              <a:rPr sz="2000" b="1">
                <a:solidFill>
                  <a:srgbClr val="6D87A0"/>
                </a:solidFill>
                <a:latin typeface="Segoe UI Semibold"/>
              </a:rPr>
              <a:t> ms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2B8CE"/>
                </a:solidFill>
                <a:latin typeface="Segoe UI"/>
              </a:rPr>
              <a:t>Fast-path decision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D87A0"/>
                </a:solidFill>
                <a:latin typeface="Consolas"/>
              </a:rPr>
              <a:t>deep path runs async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D87A0"/>
                </a:solidFill>
                <a:latin typeface="Consolas"/>
              </a:rPr>
              <a:t>Evaluated on a labeled synthetic transaction set; Aegis decision engine vs a static rules baseline.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-tc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92608"/>
            <a:ext cx="469526" cy="60350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41248" y="905256"/>
            <a:ext cx="100584" cy="100584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78638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spc="200">
                <a:solidFill>
                  <a:srgbClr val="6D87A0"/>
                </a:solidFill>
                <a:latin typeface="Consolas"/>
              </a:rPr>
              <a:t>06  </a:t>
            </a:r>
            <a:r>
              <a:rPr sz="1200" b="1" spc="200">
                <a:solidFill>
                  <a:srgbClr val="78A8FF"/>
                </a:solidFill>
                <a:latin typeface="Consolas"/>
              </a:rPr>
              <a:t>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EEF4FB"/>
                </a:solidFill>
                <a:latin typeface="Segoe UI Semibold"/>
              </a:rPr>
              <a:t>Built entirely on Google Cloud &amp; Gemini 3.5.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spc="150">
                <a:solidFill>
                  <a:srgbClr val="6D87A0"/>
                </a:solidFill>
                <a:latin typeface="Consolas"/>
              </a:rPr>
              <a:t>INTELLIGENCE &amp;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5029200" cy="566928"/>
          </a:xfrm>
          <a:prstGeom prst="roundRect">
            <a:avLst>
              <a:gd name="adj" fmla="val 14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spc="80">
                <a:solidFill>
                  <a:srgbClr val="6D87A0"/>
                </a:solidFill>
                <a:latin typeface="Consolas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78892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EF4FB"/>
                </a:solidFill>
                <a:latin typeface="Segoe UI"/>
              </a:rPr>
              <a:t>Gemini 3.5  </a:t>
            </a:r>
            <a:r>
              <a:rPr sz="1150" b="0">
                <a:solidFill>
                  <a:srgbClr val="A2B8CE"/>
                </a:solidFill>
                <a:latin typeface="Segoe UI"/>
              </a:rPr>
              <a:t>· Flash fast-path + agents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47287"/>
            <a:ext cx="5029200" cy="566928"/>
          </a:xfrm>
          <a:prstGeom prst="roundRect">
            <a:avLst>
              <a:gd name="adj" fmla="val 14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47287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spc="80">
                <a:solidFill>
                  <a:srgbClr val="6D87A0"/>
                </a:solidFill>
                <a:latin typeface="Consolas"/>
              </a:rPr>
              <a:t>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447287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EF4FB"/>
                </a:solidFill>
                <a:latin typeface="Segoe UI"/>
              </a:rPr>
              <a:t>Google GenAI SDK  </a:t>
            </a:r>
            <a:r>
              <a:rPr sz="1150" b="0">
                <a:solidFill>
                  <a:srgbClr val="A2B8CE"/>
                </a:solidFill>
                <a:latin typeface="Segoe UI"/>
              </a:rPr>
              <a:t>· 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05655"/>
            <a:ext cx="5029200" cy="566928"/>
          </a:xfrm>
          <a:prstGeom prst="roundRect">
            <a:avLst>
              <a:gd name="adj" fmla="val 14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05655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spc="80">
                <a:solidFill>
                  <a:srgbClr val="6D87A0"/>
                </a:solidFill>
                <a:latin typeface="Consolas"/>
              </a:rP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105655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EF4FB"/>
                </a:solidFill>
                <a:latin typeface="Segoe UI"/>
              </a:rPr>
              <a:t>FastAPI on Cloud Run  </a:t>
            </a:r>
            <a:r>
              <a:rPr sz="1150" b="0">
                <a:solidFill>
                  <a:srgbClr val="A2B8CE"/>
                </a:solidFill>
                <a:latin typeface="Segoe UI"/>
              </a:rPr>
              <a:t>· SSE streaming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64023"/>
            <a:ext cx="5029200" cy="566928"/>
          </a:xfrm>
          <a:prstGeom prst="roundRect">
            <a:avLst>
              <a:gd name="adj" fmla="val 14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64023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spc="80">
                <a:solidFill>
                  <a:srgbClr val="6D87A0"/>
                </a:solidFill>
                <a:latin typeface="Consolas"/>
              </a:rPr>
              <a:t>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764023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EF4FB"/>
                </a:solidFill>
                <a:latin typeface="Segoe UI"/>
              </a:rPr>
              <a:t>Pub/Sub  </a:t>
            </a:r>
            <a:r>
              <a:rPr sz="1150" b="0">
                <a:solidFill>
                  <a:srgbClr val="A2B8CE"/>
                </a:solidFill>
                <a:latin typeface="Segoe UI"/>
              </a:rPr>
              <a:t>· transaction stream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422391"/>
            <a:ext cx="5029200" cy="566928"/>
          </a:xfrm>
          <a:prstGeom prst="roundRect">
            <a:avLst>
              <a:gd name="adj" fmla="val 14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422391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spc="80">
                <a:solidFill>
                  <a:srgbClr val="6D87A0"/>
                </a:solidFill>
                <a:latin typeface="Consolas"/>
              </a:rP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422391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EF4FB"/>
                </a:solidFill>
                <a:latin typeface="Segoe UI"/>
              </a:rPr>
              <a:t>Firestore  </a:t>
            </a:r>
            <a:r>
              <a:rPr sz="1150" b="0">
                <a:solidFill>
                  <a:srgbClr val="A2B8CE"/>
                </a:solidFill>
                <a:latin typeface="Segoe UI"/>
              </a:rPr>
              <a:t>· cases &amp; customer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3317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spc="150">
                <a:solidFill>
                  <a:srgbClr val="6D87A0"/>
                </a:solidFill>
                <a:latin typeface="Consolas"/>
              </a:rPr>
              <a:t>PLATFORM &amp; EXPERIENCE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788920"/>
            <a:ext cx="5029200" cy="566928"/>
          </a:xfrm>
          <a:prstGeom prst="roundRect">
            <a:avLst>
              <a:gd name="adj" fmla="val 14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788920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spc="80">
                <a:solidFill>
                  <a:srgbClr val="6D87A0"/>
                </a:solidFill>
                <a:latin typeface="Consolas"/>
              </a:rPr>
              <a:t>AUTH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78892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EF4FB"/>
                </a:solidFill>
                <a:latin typeface="Segoe UI"/>
              </a:rPr>
              <a:t>Firebase Auth  </a:t>
            </a:r>
            <a:r>
              <a:rPr sz="1150" b="0">
                <a:solidFill>
                  <a:srgbClr val="A2B8CE"/>
                </a:solidFill>
                <a:latin typeface="Segoe UI"/>
              </a:rPr>
              <a:t>· + guest mode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447287"/>
            <a:ext cx="5029200" cy="566928"/>
          </a:xfrm>
          <a:prstGeom prst="roundRect">
            <a:avLst>
              <a:gd name="adj" fmla="val 14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447287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spc="80">
                <a:solidFill>
                  <a:srgbClr val="6D87A0"/>
                </a:solidFill>
                <a:latin typeface="Consolas"/>
              </a:rPr>
              <a:t>SECRETS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447287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EF4FB"/>
                </a:solidFill>
                <a:latin typeface="Segoe UI"/>
              </a:rPr>
              <a:t>Secret Manager  </a:t>
            </a:r>
            <a:r>
              <a:rPr sz="1150" b="0">
                <a:solidFill>
                  <a:srgbClr val="A2B8CE"/>
                </a:solidFill>
                <a:latin typeface="Segoe UI"/>
              </a:rPr>
              <a:t>· keys &amp; config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4105655"/>
            <a:ext cx="5029200" cy="566928"/>
          </a:xfrm>
          <a:prstGeom prst="roundRect">
            <a:avLst>
              <a:gd name="adj" fmla="val 14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105655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spc="80">
                <a:solidFill>
                  <a:srgbClr val="6D87A0"/>
                </a:solidFill>
                <a:latin typeface="Consolas"/>
              </a:rPr>
              <a:t>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105655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EF4FB"/>
                </a:solidFill>
                <a:latin typeface="Segoe UI"/>
              </a:rPr>
              <a:t>Model Armor  </a:t>
            </a:r>
            <a:r>
              <a:rPr sz="1150" b="0">
                <a:solidFill>
                  <a:srgbClr val="A2B8CE"/>
                </a:solidFill>
                <a:latin typeface="Segoe UI"/>
              </a:rPr>
              <a:t>· prompt &amp; output guardrails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4764023"/>
            <a:ext cx="5029200" cy="566928"/>
          </a:xfrm>
          <a:prstGeom prst="roundRect">
            <a:avLst>
              <a:gd name="adj" fmla="val 14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764023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spc="80">
                <a:solidFill>
                  <a:srgbClr val="6D87A0"/>
                </a:solidFill>
                <a:latin typeface="Consolas"/>
              </a:rPr>
              <a:t>BUILD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764023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EF4FB"/>
                </a:solidFill>
                <a:latin typeface="Segoe UI"/>
              </a:rPr>
              <a:t>Cloud Build  </a:t>
            </a:r>
            <a:r>
              <a:rPr sz="1150" b="0">
                <a:solidFill>
                  <a:srgbClr val="A2B8CE"/>
                </a:solidFill>
                <a:latin typeface="Segoe UI"/>
              </a:rPr>
              <a:t>· deploy from source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5422391"/>
            <a:ext cx="5029200" cy="566928"/>
          </a:xfrm>
          <a:prstGeom prst="roundRect">
            <a:avLst>
              <a:gd name="adj" fmla="val 14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5422391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spc="80">
                <a:solidFill>
                  <a:srgbClr val="6D87A0"/>
                </a:solidFill>
                <a:latin typeface="Consolas"/>
              </a:rPr>
              <a:t>CONSOLE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5422391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EF4FB"/>
                </a:solidFill>
                <a:latin typeface="Segoe UI"/>
              </a:rPr>
              <a:t>React · TypeScript  </a:t>
            </a:r>
            <a:r>
              <a:rPr sz="1150" b="0">
                <a:solidFill>
                  <a:srgbClr val="A2B8CE"/>
                </a:solidFill>
                <a:latin typeface="Segoe UI"/>
              </a:rPr>
              <a:t>· Vite on Cloud Run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-tc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92608"/>
            <a:ext cx="469526" cy="60350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41248" y="905256"/>
            <a:ext cx="100584" cy="100584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78638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spc="200">
                <a:solidFill>
                  <a:srgbClr val="6D87A0"/>
                </a:solidFill>
                <a:latin typeface="Consolas"/>
              </a:rPr>
              <a:t>07  </a:t>
            </a:r>
            <a:r>
              <a:rPr sz="1200" b="1" spc="200">
                <a:solidFill>
                  <a:srgbClr val="78A8FF"/>
                </a:solidFill>
                <a:latin typeface="Consolas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241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EF4FB"/>
                </a:solidFill>
                <a:latin typeface="Segoe UI Semibold"/>
              </a:rPr>
              <a:t>Aegis turns fraud defense from a static gate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EF4FB"/>
                </a:solidFill>
                <a:latin typeface="Segoe UI Semibold"/>
              </a:rPr>
              <a:t>into an </a:t>
            </a:r>
            <a:r>
              <a:rPr sz="3000" b="1">
                <a:solidFill>
                  <a:srgbClr val="78A8FF"/>
                </a:solidFill>
                <a:latin typeface="Segoe UI Semibold"/>
              </a:rPr>
              <a:t>autonomous investigator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EF4FB"/>
                </a:solidFill>
                <a:latin typeface="Segoe UI Semibold"/>
              </a:rPr>
              <a:t>that thinks, verifies, and explains — in real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77639"/>
            <a:ext cx="3291840" cy="2743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3291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EF4FB"/>
                </a:solidFill>
                <a:latin typeface="Segoe UI Semibold"/>
              </a:rPr>
              <a:t>Catch more, decline less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2B8CE"/>
                </a:solidFill>
                <a:latin typeface="Segoe UI"/>
              </a:rPr>
              <a:t>95% of fraud caught while cutting false declines 90% — protecting revenue and trust at once.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3977639"/>
            <a:ext cx="3291840" cy="2743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4114800"/>
            <a:ext cx="3291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EF4FB"/>
                </a:solidFill>
                <a:latin typeface="Segoe UI Semibold"/>
              </a:rPr>
              <a:t>Verify, don't reject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2B8CE"/>
                </a:solidFill>
                <a:latin typeface="Segoe UI"/>
              </a:rPr>
              <a:t>Adaptive step-up keeps good customers through checkout instead of turning them away.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3977639"/>
            <a:ext cx="3291840" cy="2743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4114800"/>
            <a:ext cx="3291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EF4FB"/>
                </a:solidFill>
                <a:latin typeface="Segoe UI Semibold"/>
              </a:rPr>
              <a:t>Cloud-native &amp; explainable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2B8CE"/>
                </a:solidFill>
                <a:latin typeface="Segoe UI"/>
              </a:rPr>
              <a:t>Serverless on Google Cloud, powered by Gemini 3.5, with a reason for every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94360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6085332"/>
            <a:ext cx="100584" cy="100584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943600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2B8CE"/>
                </a:solidFill>
                <a:latin typeface="Consolas"/>
              </a:rPr>
              <a:t>Aegis · AI Fraud Intelligence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594360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61104" y="6085332"/>
            <a:ext cx="100584" cy="100584"/>
          </a:xfrm>
          <a:prstGeom prst="ellipse">
            <a:avLst/>
          </a:prstGeom>
          <a:solidFill>
            <a:srgbClr val="5CD0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5943600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2B8CE"/>
                </a:solidFill>
                <a:latin typeface="Consolas"/>
              </a:rPr>
              <a:t>Built by Deepan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594360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102239"/>
          </a:solidFill>
          <a:ln w="12700">
            <a:solidFill>
              <a:srgbClr val="2A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52944" y="6085332"/>
            <a:ext cx="100584" cy="100584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4112" y="5943600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A2B8CE"/>
                </a:solidFill>
                <a:latin typeface="Consola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